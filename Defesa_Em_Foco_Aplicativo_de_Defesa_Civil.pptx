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9399530-D791-46AA-9ACA-00BA8792A2F1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CDD25E-E08C-4306-9DEA-017009CB28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94747C-2D73-4BFF-928A-33678CAF0A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6C32E6-9DBF-42AF-8CFE-C96F6659BE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6D4076-295B-4408-9C5E-878EF13175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C265A1-F6D8-4CB1-AB26-35F7328B70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6438C7-9DC3-45C0-860E-C488884F0D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6675B1-E1CC-4A66-A7A5-4534902842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05B270-1F3A-4E78-8AB5-D1B49A7858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314B2C-5955-4A20-A405-0D88999369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C5E839-6EBF-42A1-B52F-8BEADEEA6E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AA4765-C330-4911-B630-E49CACD281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0" y="0"/>
            <a:ext cx="6348960" cy="5143320"/>
          </a:xfrm>
          <a:prstGeom prst="rect">
            <a:avLst/>
          </a:prstGeom>
          <a:solidFill>
            <a:srgbClr val="0077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6292080" y="0"/>
            <a:ext cx="56880" cy="51433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571680" y="1793880"/>
            <a:ext cx="576036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5199"/>
              </a:lnSpc>
              <a:tabLst>
                <a:tab algn="l" pos="0"/>
              </a:tabLst>
            </a:pPr>
            <a:r>
              <a:rPr lang="en-US" sz="435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DEFESA EM FOCO</a:t>
            </a:r>
            <a:endParaRPr lang="pt-BR" sz="4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571680" y="2757960"/>
            <a:ext cx="428580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ffffff">
                    <a:alpha val="90000"/>
                  </a:srgbClr>
                </a:solidFill>
                <a:effectLst/>
                <a:uFillTx/>
                <a:latin typeface="Roboto"/>
                <a:ea typeface="Roboto"/>
              </a:rPr>
              <a:t>Inovação em Defesa Civil: Aplicativo para Gestão de Desastres e Proteção ao Cidadão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1" descr="preencoded.png"/>
          <p:cNvPicPr/>
          <p:nvPr/>
        </p:nvPicPr>
        <p:blipFill>
          <a:blip r:embed="rId2"/>
          <a:stretch/>
        </p:blipFill>
        <p:spPr>
          <a:xfrm>
            <a:off x="7309440" y="1649160"/>
            <a:ext cx="856800" cy="85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 4"/>
          <p:cNvSpPr/>
          <p:nvPr/>
        </p:nvSpPr>
        <p:spPr>
          <a:xfrm>
            <a:off x="7052400" y="2820960"/>
            <a:ext cx="137124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70200" bIns="7020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STATUS: EM TESTE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2" descr="preencoded.png"/>
          <p:cNvPicPr/>
          <p:nvPr/>
        </p:nvPicPr>
        <p:blipFill>
          <a:blip r:embed="rId3"/>
          <a:stretch/>
        </p:blipFill>
        <p:spPr>
          <a:xfrm>
            <a:off x="6770160" y="3349440"/>
            <a:ext cx="128160" cy="12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5"/>
          <p:cNvSpPr/>
          <p:nvPr/>
        </p:nvSpPr>
        <p:spPr>
          <a:xfrm>
            <a:off x="6898680" y="3342240"/>
            <a:ext cx="180684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Disponível na Google Play Store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6"/>
          <p:cNvSpPr/>
          <p:nvPr/>
        </p:nvSpPr>
        <p:spPr>
          <a:xfrm>
            <a:off x="6465240" y="4725720"/>
            <a:ext cx="639000" cy="24624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7"/>
          <p:cNvSpPr/>
          <p:nvPr/>
        </p:nvSpPr>
        <p:spPr>
          <a:xfrm>
            <a:off x="6465240" y="4725720"/>
            <a:ext cx="6390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FLUTTER</a:t>
            </a:r>
            <a:endParaRPr lang="pt-BR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8"/>
          <p:cNvSpPr/>
          <p:nvPr/>
        </p:nvSpPr>
        <p:spPr>
          <a:xfrm>
            <a:off x="7190280" y="4725720"/>
            <a:ext cx="882000" cy="24624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9"/>
          <p:cNvSpPr/>
          <p:nvPr/>
        </p:nvSpPr>
        <p:spPr>
          <a:xfrm>
            <a:off x="7190280" y="4725720"/>
            <a:ext cx="8820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SPRING BOOT</a:t>
            </a:r>
            <a:endParaRPr lang="pt-BR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0"/>
          <p:cNvSpPr/>
          <p:nvPr/>
        </p:nvSpPr>
        <p:spPr>
          <a:xfrm>
            <a:off x="8158320" y="4725720"/>
            <a:ext cx="699840" cy="24624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8158320" y="4725720"/>
            <a:ext cx="69984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FIREBASE</a:t>
            </a:r>
            <a:endParaRPr lang="pt-BR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Shape 0"/>
          <p:cNvSpPr/>
          <p:nvPr/>
        </p:nvSpPr>
        <p:spPr>
          <a:xfrm>
            <a:off x="0" y="0"/>
            <a:ext cx="9143640" cy="1142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428760" y="285840"/>
            <a:ext cx="187164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VISÃO GERAL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628560" y="1771200"/>
            <a:ext cx="36716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OBJETIVO PRINCIPAL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1" descr="preencoded.png"/>
          <p:cNvPicPr/>
          <p:nvPr/>
        </p:nvPicPr>
        <p:blipFill>
          <a:blip r:embed="rId2"/>
          <a:stretch/>
        </p:blipFill>
        <p:spPr>
          <a:xfrm>
            <a:off x="628560" y="225504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3"/>
          <p:cNvSpPr/>
          <p:nvPr/>
        </p:nvSpPr>
        <p:spPr>
          <a:xfrm>
            <a:off x="907200" y="2112120"/>
            <a:ext cx="339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Registrar e acompanhar ocorrências de desastres naturais de forma eficiente e centralizada.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4843440" y="1771200"/>
            <a:ext cx="36716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PÚBLICO-ALVO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2" descr="preencoded.png"/>
          <p:cNvPicPr/>
          <p:nvPr/>
        </p:nvPicPr>
        <p:blipFill>
          <a:blip r:embed="rId3"/>
          <a:stretch/>
        </p:blipFill>
        <p:spPr>
          <a:xfrm>
            <a:off x="4843440" y="2255040"/>
            <a:ext cx="21384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5"/>
          <p:cNvSpPr/>
          <p:nvPr/>
        </p:nvSpPr>
        <p:spPr>
          <a:xfrm>
            <a:off x="5164920" y="2112120"/>
            <a:ext cx="335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Cidadãos (para reporte) e Agentes da Defesa Civil (para gestão e resposta).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628560" y="3542760"/>
            <a:ext cx="36716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STATUS DO APP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3" descr="preencoded.png"/>
          <p:cNvPicPr/>
          <p:nvPr/>
        </p:nvPicPr>
        <p:blipFill>
          <a:blip r:embed="rId4"/>
          <a:stretch/>
        </p:blipFill>
        <p:spPr>
          <a:xfrm>
            <a:off x="628560" y="402660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7"/>
          <p:cNvSpPr/>
          <p:nvPr/>
        </p:nvSpPr>
        <p:spPr>
          <a:xfrm>
            <a:off x="907200" y="3883680"/>
            <a:ext cx="339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Versão 1.0.0+5 atualmente em ambiente de teste na Google Play Store.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4843440" y="3542760"/>
            <a:ext cx="36716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DIFERENCIAL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4" descr="preencoded.png"/>
          <p:cNvPicPr/>
          <p:nvPr/>
        </p:nvPicPr>
        <p:blipFill>
          <a:blip r:embed="rId5"/>
          <a:stretch/>
        </p:blipFill>
        <p:spPr>
          <a:xfrm>
            <a:off x="4843440" y="4026600"/>
            <a:ext cx="12816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9"/>
          <p:cNvSpPr/>
          <p:nvPr/>
        </p:nvSpPr>
        <p:spPr>
          <a:xfrm>
            <a:off x="5079240" y="3883680"/>
            <a:ext cx="3435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Alta usabilidade e resiliência em condições críticas, com suporte offline robusto.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preencoded.png"/>
          <p:cNvPicPr/>
          <p:nvPr/>
        </p:nvPicPr>
        <p:blipFill>
          <a:blip r:embed="rId1"/>
          <a:stretch/>
        </p:blipFill>
        <p:spPr>
          <a:xfrm>
            <a:off x="360" y="36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Shape 0"/>
          <p:cNvSpPr/>
          <p:nvPr/>
        </p:nvSpPr>
        <p:spPr>
          <a:xfrm>
            <a:off x="0" y="0"/>
            <a:ext cx="9143640" cy="1142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428760" y="285840"/>
            <a:ext cx="391284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CASOS DE USO PRINCIPAIS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"/>
          <p:cNvSpPr/>
          <p:nvPr/>
        </p:nvSpPr>
        <p:spPr>
          <a:xfrm>
            <a:off x="442800" y="1571760"/>
            <a:ext cx="1073880" cy="533520"/>
          </a:xfrm>
          <a:prstGeom prst="rect">
            <a:avLst/>
          </a:prstGeom>
          <a:solidFill>
            <a:srgbClr val="0077b6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442800" y="1571760"/>
            <a:ext cx="107388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rIns="169920" tIns="102240" bIns="102240" anchor="ctr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Ator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1517040" y="1571760"/>
            <a:ext cx="1826280" cy="533520"/>
          </a:xfrm>
          <a:prstGeom prst="rect">
            <a:avLst/>
          </a:prstGeom>
          <a:solidFill>
            <a:srgbClr val="0077b6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1517040" y="1571760"/>
            <a:ext cx="182628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rIns="169920" tIns="102240" bIns="102240" anchor="ctr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Caso de Uso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6"/>
          <p:cNvSpPr/>
          <p:nvPr/>
        </p:nvSpPr>
        <p:spPr>
          <a:xfrm>
            <a:off x="3337920" y="1571760"/>
            <a:ext cx="5362920" cy="533520"/>
          </a:xfrm>
          <a:prstGeom prst="rect">
            <a:avLst/>
          </a:prstGeom>
          <a:solidFill>
            <a:srgbClr val="0077b6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3337920" y="1634400"/>
            <a:ext cx="536292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rIns="169920" tIns="102240" bIns="102240" anchor="ctr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Descrição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8"/>
          <p:cNvSpPr/>
          <p:nvPr/>
        </p:nvSpPr>
        <p:spPr>
          <a:xfrm>
            <a:off x="585720" y="2241360"/>
            <a:ext cx="567720" cy="20340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9"/>
          <p:cNvSpPr/>
          <p:nvPr/>
        </p:nvSpPr>
        <p:spPr>
          <a:xfrm>
            <a:off x="585720" y="2241360"/>
            <a:ext cx="5677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42480" bIns="4248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CIDADÃO</a:t>
            </a:r>
            <a:endParaRPr lang="pt-BR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1655280" y="2267280"/>
            <a:ext cx="113364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Reportar Ocorrência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1"/>
          <p:cNvSpPr/>
          <p:nvPr/>
        </p:nvSpPr>
        <p:spPr>
          <a:xfrm>
            <a:off x="3331800" y="2105640"/>
            <a:ext cx="53686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3000" rIns="153000" tIns="76680" bIns="76680" anchor="ctr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Envio de dados sobre desastres com fotos e localização GPS precisa.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2"/>
          <p:cNvSpPr/>
          <p:nvPr/>
        </p:nvSpPr>
        <p:spPr>
          <a:xfrm>
            <a:off x="442800" y="2580840"/>
            <a:ext cx="8257680" cy="47484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3"/>
          <p:cNvSpPr/>
          <p:nvPr/>
        </p:nvSpPr>
        <p:spPr>
          <a:xfrm>
            <a:off x="585720" y="2716560"/>
            <a:ext cx="506880" cy="20340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585720" y="2716560"/>
            <a:ext cx="50688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42480" bIns="4248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AGENTE</a:t>
            </a:r>
            <a:endParaRPr lang="pt-BR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5"/>
          <p:cNvSpPr/>
          <p:nvPr/>
        </p:nvSpPr>
        <p:spPr>
          <a:xfrm>
            <a:off x="1655280" y="2742480"/>
            <a:ext cx="104796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Acompanhamento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6"/>
          <p:cNvSpPr/>
          <p:nvPr/>
        </p:nvSpPr>
        <p:spPr>
          <a:xfrm>
            <a:off x="3331800" y="2580840"/>
            <a:ext cx="53686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3000" rIns="153000" tIns="76680" bIns="76680" anchor="ctr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Monitoramento em tempo real do status e evolução das ocorrências.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7"/>
          <p:cNvSpPr/>
          <p:nvPr/>
        </p:nvSpPr>
        <p:spPr>
          <a:xfrm>
            <a:off x="585720" y="3191400"/>
            <a:ext cx="567720" cy="20340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8"/>
          <p:cNvSpPr/>
          <p:nvPr/>
        </p:nvSpPr>
        <p:spPr>
          <a:xfrm>
            <a:off x="585720" y="3191400"/>
            <a:ext cx="56772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42480" bIns="4248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USUÁRIO</a:t>
            </a:r>
            <a:endParaRPr lang="pt-BR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9"/>
          <p:cNvSpPr/>
          <p:nvPr/>
        </p:nvSpPr>
        <p:spPr>
          <a:xfrm>
            <a:off x="1655280" y="3217320"/>
            <a:ext cx="70704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Notificações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0"/>
          <p:cNvSpPr/>
          <p:nvPr/>
        </p:nvSpPr>
        <p:spPr>
          <a:xfrm>
            <a:off x="3331800" y="3055680"/>
            <a:ext cx="53686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3000" rIns="153000" tIns="76680" bIns="76680" anchor="ctr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Recebimento de alertas críticos e informativos via Push Notifications.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360000" y="3528000"/>
            <a:ext cx="8460000" cy="108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Shape 0"/>
          <p:cNvSpPr/>
          <p:nvPr/>
        </p:nvSpPr>
        <p:spPr>
          <a:xfrm>
            <a:off x="0" y="0"/>
            <a:ext cx="9143640" cy="10569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428760" y="285840"/>
            <a:ext cx="442332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FUNCIONALIDADES PRINCIPAIS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1" descr="preencoded.png"/>
          <p:cNvPicPr/>
          <p:nvPr/>
        </p:nvPicPr>
        <p:blipFill>
          <a:blip r:embed="rId2"/>
          <a:stretch/>
        </p:blipFill>
        <p:spPr>
          <a:xfrm>
            <a:off x="628560" y="1571760"/>
            <a:ext cx="226656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2"/>
          <p:cNvSpPr/>
          <p:nvPr/>
        </p:nvSpPr>
        <p:spPr>
          <a:xfrm>
            <a:off x="628560" y="2032920"/>
            <a:ext cx="22665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Roboto Mono"/>
                <a:ea typeface="Roboto Mono"/>
              </a:rPr>
              <a:t>MAPEAMENTO INTERATIVO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628560" y="2307960"/>
            <a:ext cx="226656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Visualização geoespacial avançada com flutter_map para identificação de áreas de risco.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3238560" y="1371600"/>
            <a:ext cx="2666520" cy="1800000"/>
          </a:xfrm>
          <a:prstGeom prst="rect">
            <a:avLst/>
          </a:prstGeom>
          <a:solidFill>
            <a:srgbClr val="0077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2" descr="preencoded.png"/>
          <p:cNvPicPr/>
          <p:nvPr/>
        </p:nvPicPr>
        <p:blipFill>
          <a:blip r:embed="rId3"/>
          <a:stretch/>
        </p:blipFill>
        <p:spPr>
          <a:xfrm>
            <a:off x="3409920" y="1542960"/>
            <a:ext cx="232380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5"/>
          <p:cNvSpPr/>
          <p:nvPr/>
        </p:nvSpPr>
        <p:spPr>
          <a:xfrm>
            <a:off x="3409920" y="2004480"/>
            <a:ext cx="23238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GEOLOCALIZAÇÃO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3409920" y="2279520"/>
            <a:ext cx="23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Captura precisa de coordenadas em tempo real para reporte exato de ocorrências.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3" descr="preencoded.png"/>
          <p:cNvPicPr/>
          <p:nvPr/>
        </p:nvPicPr>
        <p:blipFill>
          <a:blip r:embed="rId4"/>
          <a:stretch/>
        </p:blipFill>
        <p:spPr>
          <a:xfrm>
            <a:off x="6248520" y="1571760"/>
            <a:ext cx="226656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7"/>
          <p:cNvSpPr/>
          <p:nvPr/>
        </p:nvSpPr>
        <p:spPr>
          <a:xfrm>
            <a:off x="6248520" y="2032920"/>
            <a:ext cx="22665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Roboto Mono"/>
                <a:ea typeface="Roboto Mono"/>
              </a:rPr>
              <a:t>MULTIMÍDIA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6248520" y="2307960"/>
            <a:ext cx="2266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Integração nativa com câmera e galeria para registro de evidências visuais dos desastres.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4" descr="preencoded.png"/>
          <p:cNvPicPr/>
          <p:nvPr/>
        </p:nvPicPr>
        <p:blipFill>
          <a:blip r:embed="rId5"/>
          <a:stretch/>
        </p:blipFill>
        <p:spPr>
          <a:xfrm>
            <a:off x="628560" y="3514680"/>
            <a:ext cx="226656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9"/>
          <p:cNvSpPr/>
          <p:nvPr/>
        </p:nvSpPr>
        <p:spPr>
          <a:xfrm>
            <a:off x="628560" y="3976200"/>
            <a:ext cx="22665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Roboto Mono"/>
                <a:ea typeface="Roboto Mono"/>
              </a:rPr>
              <a:t>NOTIFICAÇÕES PUSH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628560" y="4251240"/>
            <a:ext cx="2266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Alertas críticos e informativos em tempo real via Firebase Cloud Messaging (FCM).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 5" descr="preencoded.png"/>
          <p:cNvPicPr/>
          <p:nvPr/>
        </p:nvPicPr>
        <p:blipFill>
          <a:blip r:embed="rId6"/>
          <a:stretch/>
        </p:blipFill>
        <p:spPr>
          <a:xfrm>
            <a:off x="3438360" y="3514680"/>
            <a:ext cx="226656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 11"/>
          <p:cNvSpPr/>
          <p:nvPr/>
        </p:nvSpPr>
        <p:spPr>
          <a:xfrm>
            <a:off x="3438360" y="3976200"/>
            <a:ext cx="22665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Roboto Mono"/>
                <a:ea typeface="Roboto Mono"/>
              </a:rPr>
              <a:t>SEGURANÇA JWT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3438360" y="4251240"/>
            <a:ext cx="2266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Autenticação robusta e persistência segura de dados com SharedPreferences.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3"/>
          <p:cNvSpPr/>
          <p:nvPr/>
        </p:nvSpPr>
        <p:spPr>
          <a:xfrm>
            <a:off x="6048360" y="3314880"/>
            <a:ext cx="2666520" cy="1800000"/>
          </a:xfrm>
          <a:prstGeom prst="rect">
            <a:avLst/>
          </a:prstGeom>
          <a:solidFill>
            <a:srgbClr val="0077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6219720" y="3719160"/>
            <a:ext cx="23238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SUPORTE OFFLINE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6219720" y="3994200"/>
            <a:ext cx="23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Funcionamento garantido em áreas sem conectividade com sincronização posterior.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Shape 0"/>
          <p:cNvSpPr/>
          <p:nvPr/>
        </p:nvSpPr>
        <p:spPr>
          <a:xfrm>
            <a:off x="0" y="0"/>
            <a:ext cx="9143640" cy="1142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428760" y="285840"/>
            <a:ext cx="238212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BANCO DE DADOS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428760" y="1628640"/>
            <a:ext cx="2685600" cy="2478600"/>
          </a:xfrm>
          <a:prstGeom prst="rect">
            <a:avLst/>
          </a:prstGeom>
          <a:solidFill>
            <a:srgbClr val="0077b6">
              <a:alpha val="5000"/>
            </a:srgbClr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514440" y="1714680"/>
            <a:ext cx="2514240" cy="321120"/>
          </a:xfrm>
          <a:prstGeom prst="rect">
            <a:avLst/>
          </a:prstGeom>
          <a:solidFill>
            <a:srgbClr val="0077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514440" y="1714680"/>
            <a:ext cx="2514240" cy="3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68040" bIns="6804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USUÁRIOS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514440" y="2150280"/>
            <a:ext cx="1353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id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2893320" y="2150280"/>
            <a:ext cx="1353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PK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514440" y="2393280"/>
            <a:ext cx="2710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nome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2621880" y="2393280"/>
            <a:ext cx="4068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String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9"/>
          <p:cNvSpPr/>
          <p:nvPr/>
        </p:nvSpPr>
        <p:spPr>
          <a:xfrm>
            <a:off x="514440" y="2635920"/>
            <a:ext cx="3391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email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2621880" y="2635920"/>
            <a:ext cx="4068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String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514440" y="2878920"/>
            <a:ext cx="5425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telefone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2621880" y="2878920"/>
            <a:ext cx="4068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String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514440" y="3121920"/>
            <a:ext cx="7462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dataCriacao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2757600" y="3121920"/>
            <a:ext cx="2710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Date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5"/>
          <p:cNvSpPr/>
          <p:nvPr/>
        </p:nvSpPr>
        <p:spPr>
          <a:xfrm>
            <a:off x="3228840" y="1628640"/>
            <a:ext cx="2685600" cy="2478600"/>
          </a:xfrm>
          <a:prstGeom prst="rect">
            <a:avLst/>
          </a:prstGeom>
          <a:solidFill>
            <a:srgbClr val="0077b6">
              <a:alpha val="5000"/>
            </a:srgbClr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6"/>
          <p:cNvSpPr/>
          <p:nvPr/>
        </p:nvSpPr>
        <p:spPr>
          <a:xfrm>
            <a:off x="3314880" y="1714680"/>
            <a:ext cx="2514240" cy="321120"/>
          </a:xfrm>
          <a:prstGeom prst="rect">
            <a:avLst/>
          </a:prstGeom>
          <a:solidFill>
            <a:srgbClr val="0077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7"/>
          <p:cNvSpPr/>
          <p:nvPr/>
        </p:nvSpPr>
        <p:spPr>
          <a:xfrm>
            <a:off x="3314880" y="1714680"/>
            <a:ext cx="2514240" cy="3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68040" bIns="6804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OCORRÊNCIAS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8"/>
          <p:cNvSpPr/>
          <p:nvPr/>
        </p:nvSpPr>
        <p:spPr>
          <a:xfrm>
            <a:off x="3314880" y="2150280"/>
            <a:ext cx="1353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id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9"/>
          <p:cNvSpPr/>
          <p:nvPr/>
        </p:nvSpPr>
        <p:spPr>
          <a:xfrm>
            <a:off x="5693400" y="2150280"/>
            <a:ext cx="1353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PK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0"/>
          <p:cNvSpPr/>
          <p:nvPr/>
        </p:nvSpPr>
        <p:spPr>
          <a:xfrm>
            <a:off x="3314880" y="2393280"/>
            <a:ext cx="2710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tipo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1"/>
          <p:cNvSpPr/>
          <p:nvPr/>
        </p:nvSpPr>
        <p:spPr>
          <a:xfrm>
            <a:off x="5557680" y="2393280"/>
            <a:ext cx="2710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Enum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2"/>
          <p:cNvSpPr/>
          <p:nvPr/>
        </p:nvSpPr>
        <p:spPr>
          <a:xfrm>
            <a:off x="3314880" y="2635920"/>
            <a:ext cx="6105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descricao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3"/>
          <p:cNvSpPr/>
          <p:nvPr/>
        </p:nvSpPr>
        <p:spPr>
          <a:xfrm>
            <a:off x="5557680" y="2635920"/>
            <a:ext cx="2710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Text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4"/>
          <p:cNvSpPr/>
          <p:nvPr/>
        </p:nvSpPr>
        <p:spPr>
          <a:xfrm>
            <a:off x="3314880" y="2878920"/>
            <a:ext cx="5425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latitude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5"/>
          <p:cNvSpPr/>
          <p:nvPr/>
        </p:nvSpPr>
        <p:spPr>
          <a:xfrm>
            <a:off x="5421960" y="2878920"/>
            <a:ext cx="4068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Double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6"/>
          <p:cNvSpPr/>
          <p:nvPr/>
        </p:nvSpPr>
        <p:spPr>
          <a:xfrm>
            <a:off x="3314880" y="3121920"/>
            <a:ext cx="6105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longitude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7"/>
          <p:cNvSpPr/>
          <p:nvPr/>
        </p:nvSpPr>
        <p:spPr>
          <a:xfrm>
            <a:off x="5421960" y="3121920"/>
            <a:ext cx="4068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Double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8"/>
          <p:cNvSpPr/>
          <p:nvPr/>
        </p:nvSpPr>
        <p:spPr>
          <a:xfrm>
            <a:off x="3314880" y="3364560"/>
            <a:ext cx="2710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foto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9"/>
          <p:cNvSpPr/>
          <p:nvPr/>
        </p:nvSpPr>
        <p:spPr>
          <a:xfrm>
            <a:off x="5286240" y="3364560"/>
            <a:ext cx="5425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URL/Blob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0"/>
          <p:cNvSpPr/>
          <p:nvPr/>
        </p:nvSpPr>
        <p:spPr>
          <a:xfrm>
            <a:off x="3314880" y="3607560"/>
            <a:ext cx="4068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status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1"/>
          <p:cNvSpPr/>
          <p:nvPr/>
        </p:nvSpPr>
        <p:spPr>
          <a:xfrm>
            <a:off x="5421960" y="3607560"/>
            <a:ext cx="4068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String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2"/>
          <p:cNvSpPr/>
          <p:nvPr/>
        </p:nvSpPr>
        <p:spPr>
          <a:xfrm>
            <a:off x="3314880" y="3850560"/>
            <a:ext cx="6105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usuarioId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3"/>
          <p:cNvSpPr/>
          <p:nvPr/>
        </p:nvSpPr>
        <p:spPr>
          <a:xfrm>
            <a:off x="5693400" y="3850560"/>
            <a:ext cx="1353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FK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4"/>
          <p:cNvSpPr/>
          <p:nvPr/>
        </p:nvSpPr>
        <p:spPr>
          <a:xfrm>
            <a:off x="6029280" y="1628640"/>
            <a:ext cx="2685600" cy="2428560"/>
          </a:xfrm>
          <a:prstGeom prst="rect">
            <a:avLst/>
          </a:prstGeom>
          <a:solidFill>
            <a:srgbClr val="0077b6">
              <a:alpha val="5000"/>
            </a:srgbClr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5"/>
          <p:cNvSpPr/>
          <p:nvPr/>
        </p:nvSpPr>
        <p:spPr>
          <a:xfrm>
            <a:off x="6114960" y="1714680"/>
            <a:ext cx="2514240" cy="321120"/>
          </a:xfrm>
          <a:prstGeom prst="rect">
            <a:avLst/>
          </a:prstGeom>
          <a:solidFill>
            <a:srgbClr val="0077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6"/>
          <p:cNvSpPr/>
          <p:nvPr/>
        </p:nvSpPr>
        <p:spPr>
          <a:xfrm>
            <a:off x="6114960" y="1714680"/>
            <a:ext cx="2514240" cy="3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68040" bIns="6804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lang="en-US" sz="1160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NOTIFICAÇÕES</a:t>
            </a:r>
            <a:endParaRPr lang="pt-BR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7"/>
          <p:cNvSpPr/>
          <p:nvPr/>
        </p:nvSpPr>
        <p:spPr>
          <a:xfrm>
            <a:off x="6114960" y="2150280"/>
            <a:ext cx="1353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id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8"/>
          <p:cNvSpPr/>
          <p:nvPr/>
        </p:nvSpPr>
        <p:spPr>
          <a:xfrm>
            <a:off x="8493840" y="2150280"/>
            <a:ext cx="1353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PK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9"/>
          <p:cNvSpPr/>
          <p:nvPr/>
        </p:nvSpPr>
        <p:spPr>
          <a:xfrm>
            <a:off x="6114960" y="2393280"/>
            <a:ext cx="6105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usuarioId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40"/>
          <p:cNvSpPr/>
          <p:nvPr/>
        </p:nvSpPr>
        <p:spPr>
          <a:xfrm>
            <a:off x="8493840" y="2393280"/>
            <a:ext cx="1353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FK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1"/>
          <p:cNvSpPr/>
          <p:nvPr/>
        </p:nvSpPr>
        <p:spPr>
          <a:xfrm>
            <a:off x="6114960" y="2635920"/>
            <a:ext cx="5425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mensagem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2"/>
          <p:cNvSpPr/>
          <p:nvPr/>
        </p:nvSpPr>
        <p:spPr>
          <a:xfrm>
            <a:off x="8358120" y="2635920"/>
            <a:ext cx="2710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Text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3"/>
          <p:cNvSpPr/>
          <p:nvPr/>
        </p:nvSpPr>
        <p:spPr>
          <a:xfrm>
            <a:off x="6114960" y="2878920"/>
            <a:ext cx="6105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dataEnvio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4"/>
          <p:cNvSpPr/>
          <p:nvPr/>
        </p:nvSpPr>
        <p:spPr>
          <a:xfrm>
            <a:off x="8358120" y="2878920"/>
            <a:ext cx="2710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Date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5"/>
          <p:cNvSpPr/>
          <p:nvPr/>
        </p:nvSpPr>
        <p:spPr>
          <a:xfrm>
            <a:off x="428760" y="4157640"/>
            <a:ext cx="8286480" cy="567720"/>
          </a:xfrm>
          <a:prstGeom prst="rect">
            <a:avLst/>
          </a:prstGeom>
          <a:solidFill>
            <a:srgbClr val="f8f9fa"/>
          </a:solidFill>
          <a:ln w="27432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46"/>
          <p:cNvSpPr/>
          <p:nvPr/>
        </p:nvSpPr>
        <p:spPr>
          <a:xfrm>
            <a:off x="428760" y="4157640"/>
            <a:ext cx="8286480" cy="56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76680" bIns="7668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MODELO HÍBRIDO:</a:t>
            </a:r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 Relacional (Spring/JPA) para integridade + NoSQL (Firebase) para agilidade em notificações e tempo real.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Image 0" descr="preencoded.png"/>
          <p:cNvPicPr/>
          <p:nvPr/>
        </p:nvPicPr>
        <p:blipFill>
          <a:blip r:embed="rId1"/>
          <a:stretch/>
        </p:blipFill>
        <p:spPr>
          <a:xfrm>
            <a:off x="360" y="36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Shape 0"/>
          <p:cNvSpPr/>
          <p:nvPr/>
        </p:nvSpPr>
        <p:spPr>
          <a:xfrm>
            <a:off x="0" y="0"/>
            <a:ext cx="9143640" cy="1142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428760" y="285840"/>
            <a:ext cx="425304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FLUXO DE DADOS DO SISTEMA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"/>
          <p:cNvSpPr/>
          <p:nvPr/>
        </p:nvSpPr>
        <p:spPr>
          <a:xfrm>
            <a:off x="856080" y="1771560"/>
            <a:ext cx="414000" cy="414000"/>
          </a:xfrm>
          <a:prstGeom prst="rect">
            <a:avLst/>
          </a:prstGeom>
          <a:solidFill>
            <a:srgbClr val="0077b6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"/>
          <p:cNvSpPr/>
          <p:nvPr/>
        </p:nvSpPr>
        <p:spPr>
          <a:xfrm>
            <a:off x="856080" y="1771560"/>
            <a:ext cx="41400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1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4"/>
          <p:cNvSpPr/>
          <p:nvPr/>
        </p:nvSpPr>
        <p:spPr>
          <a:xfrm>
            <a:off x="213120" y="2271600"/>
            <a:ext cx="1699920" cy="1771200"/>
          </a:xfrm>
          <a:prstGeom prst="rect">
            <a:avLst/>
          </a:prstGeom>
          <a:solidFill>
            <a:srgbClr val="f8f9fa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Image 1" descr="preencoded.png"/>
          <p:cNvPicPr/>
          <p:nvPr/>
        </p:nvPicPr>
        <p:blipFill>
          <a:blip r:embed="rId2"/>
          <a:stretch/>
        </p:blipFill>
        <p:spPr>
          <a:xfrm>
            <a:off x="856080" y="2414520"/>
            <a:ext cx="35676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 5"/>
          <p:cNvSpPr/>
          <p:nvPr/>
        </p:nvSpPr>
        <p:spPr>
          <a:xfrm>
            <a:off x="320400" y="2936160"/>
            <a:ext cx="142848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USUÁRIO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320400" y="3205800"/>
            <a:ext cx="14284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Inicia o reporte de ocorrência no aplicativo Flutter.</a:t>
            </a:r>
            <a:endParaRPr lang="pt-BR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7"/>
          <p:cNvSpPr/>
          <p:nvPr/>
        </p:nvSpPr>
        <p:spPr>
          <a:xfrm>
            <a:off x="2570040" y="1771560"/>
            <a:ext cx="414000" cy="414000"/>
          </a:xfrm>
          <a:prstGeom prst="rect">
            <a:avLst/>
          </a:prstGeom>
          <a:solidFill>
            <a:srgbClr val="0077b6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2570040" y="1771560"/>
            <a:ext cx="41400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2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9"/>
          <p:cNvSpPr/>
          <p:nvPr/>
        </p:nvSpPr>
        <p:spPr>
          <a:xfrm>
            <a:off x="1999080" y="2271600"/>
            <a:ext cx="1699920" cy="1771200"/>
          </a:xfrm>
          <a:prstGeom prst="rect">
            <a:avLst/>
          </a:prstGeom>
          <a:solidFill>
            <a:srgbClr val="f8f9fa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Image 2" descr="preencoded.png"/>
          <p:cNvPicPr/>
          <p:nvPr/>
        </p:nvPicPr>
        <p:blipFill>
          <a:blip r:embed="rId3"/>
          <a:stretch/>
        </p:blipFill>
        <p:spPr>
          <a:xfrm>
            <a:off x="2677680" y="2414520"/>
            <a:ext cx="21384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 10"/>
          <p:cNvSpPr/>
          <p:nvPr/>
        </p:nvSpPr>
        <p:spPr>
          <a:xfrm>
            <a:off x="2106360" y="2936160"/>
            <a:ext cx="142848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APP FLUTTER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1"/>
          <p:cNvSpPr/>
          <p:nvPr/>
        </p:nvSpPr>
        <p:spPr>
          <a:xfrm>
            <a:off x="2106360" y="3205800"/>
            <a:ext cx="14284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Captura dados, fotos e GPS. Suporta armazenamento offline.</a:t>
            </a:r>
            <a:endParaRPr lang="pt-BR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2"/>
          <p:cNvSpPr/>
          <p:nvPr/>
        </p:nvSpPr>
        <p:spPr>
          <a:xfrm>
            <a:off x="4428000" y="1771560"/>
            <a:ext cx="414000" cy="414000"/>
          </a:xfrm>
          <a:prstGeom prst="rect">
            <a:avLst/>
          </a:prstGeom>
          <a:solidFill>
            <a:srgbClr val="0077b6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3"/>
          <p:cNvSpPr/>
          <p:nvPr/>
        </p:nvSpPr>
        <p:spPr>
          <a:xfrm>
            <a:off x="4428000" y="1771560"/>
            <a:ext cx="41400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3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4"/>
          <p:cNvSpPr/>
          <p:nvPr/>
        </p:nvSpPr>
        <p:spPr>
          <a:xfrm>
            <a:off x="3785040" y="2271600"/>
            <a:ext cx="1699920" cy="1771200"/>
          </a:xfrm>
          <a:prstGeom prst="rect">
            <a:avLst/>
          </a:prstGeom>
          <a:solidFill>
            <a:srgbClr val="f8f9fa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 3" descr="preencoded.png"/>
          <p:cNvPicPr/>
          <p:nvPr/>
        </p:nvPicPr>
        <p:blipFill>
          <a:blip r:embed="rId4"/>
          <a:stretch/>
        </p:blipFill>
        <p:spPr>
          <a:xfrm>
            <a:off x="4463640" y="2414520"/>
            <a:ext cx="28548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 15"/>
          <p:cNvSpPr/>
          <p:nvPr/>
        </p:nvSpPr>
        <p:spPr>
          <a:xfrm>
            <a:off x="3892320" y="2936160"/>
            <a:ext cx="142848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BACKEND SPRING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6"/>
          <p:cNvSpPr/>
          <p:nvPr/>
        </p:nvSpPr>
        <p:spPr>
          <a:xfrm>
            <a:off x="3892320" y="3205800"/>
            <a:ext cx="14284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Processa a requisição, valida dados e aplica regras de negócio.</a:t>
            </a:r>
            <a:endParaRPr lang="pt-BR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7"/>
          <p:cNvSpPr/>
          <p:nvPr/>
        </p:nvSpPr>
        <p:spPr>
          <a:xfrm>
            <a:off x="6213960" y="1771560"/>
            <a:ext cx="414000" cy="414000"/>
          </a:xfrm>
          <a:prstGeom prst="rect">
            <a:avLst/>
          </a:prstGeom>
          <a:solidFill>
            <a:srgbClr val="0077b6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8"/>
          <p:cNvSpPr/>
          <p:nvPr/>
        </p:nvSpPr>
        <p:spPr>
          <a:xfrm>
            <a:off x="6213960" y="1771560"/>
            <a:ext cx="41400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4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9"/>
          <p:cNvSpPr/>
          <p:nvPr/>
        </p:nvSpPr>
        <p:spPr>
          <a:xfrm>
            <a:off x="5571000" y="2271600"/>
            <a:ext cx="1699920" cy="1771200"/>
          </a:xfrm>
          <a:prstGeom prst="rect">
            <a:avLst/>
          </a:prstGeom>
          <a:solidFill>
            <a:srgbClr val="f8f9fa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4" descr="preencoded.png"/>
          <p:cNvPicPr/>
          <p:nvPr/>
        </p:nvPicPr>
        <p:blipFill>
          <a:blip r:embed="rId5"/>
          <a:stretch/>
        </p:blipFill>
        <p:spPr>
          <a:xfrm>
            <a:off x="6303600" y="2414520"/>
            <a:ext cx="24984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20"/>
          <p:cNvSpPr/>
          <p:nvPr/>
        </p:nvSpPr>
        <p:spPr>
          <a:xfrm>
            <a:off x="5678280" y="2936160"/>
            <a:ext cx="142848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DATABASE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1"/>
          <p:cNvSpPr/>
          <p:nvPr/>
        </p:nvSpPr>
        <p:spPr>
          <a:xfrm>
            <a:off x="5714280" y="3205800"/>
            <a:ext cx="14284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Persiste a ocorrência para histórico e gestão da Defesa Civil.</a:t>
            </a:r>
            <a:endParaRPr lang="pt-BR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2"/>
          <p:cNvSpPr/>
          <p:nvPr/>
        </p:nvSpPr>
        <p:spPr>
          <a:xfrm>
            <a:off x="7999920" y="1771560"/>
            <a:ext cx="414000" cy="414000"/>
          </a:xfrm>
          <a:prstGeom prst="rect">
            <a:avLst/>
          </a:prstGeom>
          <a:solidFill>
            <a:srgbClr val="0077b6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3"/>
          <p:cNvSpPr/>
          <p:nvPr/>
        </p:nvSpPr>
        <p:spPr>
          <a:xfrm>
            <a:off x="7999920" y="1771560"/>
            <a:ext cx="41400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70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5</a:t>
            </a:r>
            <a:endParaRPr lang="pt-B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4"/>
          <p:cNvSpPr/>
          <p:nvPr/>
        </p:nvSpPr>
        <p:spPr>
          <a:xfrm>
            <a:off x="7356960" y="2271600"/>
            <a:ext cx="1699920" cy="1771200"/>
          </a:xfrm>
          <a:prstGeom prst="rect">
            <a:avLst/>
          </a:prstGeom>
          <a:solidFill>
            <a:srgbClr val="f8f9fa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Image 5" descr="preencoded.png"/>
          <p:cNvPicPr/>
          <p:nvPr/>
        </p:nvPicPr>
        <p:blipFill>
          <a:blip r:embed="rId6"/>
          <a:stretch/>
        </p:blipFill>
        <p:spPr>
          <a:xfrm>
            <a:off x="8053560" y="2414520"/>
            <a:ext cx="24984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 25"/>
          <p:cNvSpPr/>
          <p:nvPr/>
        </p:nvSpPr>
        <p:spPr>
          <a:xfrm>
            <a:off x="7464240" y="2936160"/>
            <a:ext cx="142848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FIREBASE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6"/>
          <p:cNvSpPr/>
          <p:nvPr/>
        </p:nvSpPr>
        <p:spPr>
          <a:xfrm>
            <a:off x="7464240" y="3205800"/>
            <a:ext cx="142848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Armazena todos os dados gerados </a:t>
            </a:r>
            <a:endParaRPr lang="pt-BR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Shape 0"/>
          <p:cNvSpPr/>
          <p:nvPr/>
        </p:nvSpPr>
        <p:spPr>
          <a:xfrm>
            <a:off x="0" y="0"/>
            <a:ext cx="9143640" cy="1142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428760" y="285840"/>
            <a:ext cx="374292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INTEGRAÇÃO COM BACKEND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"/>
          <p:cNvSpPr/>
          <p:nvPr/>
        </p:nvSpPr>
        <p:spPr>
          <a:xfrm>
            <a:off x="671400" y="1942560"/>
            <a:ext cx="35143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PRINCIPAIS ENDPOINTS REST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"/>
          <p:cNvSpPr/>
          <p:nvPr/>
        </p:nvSpPr>
        <p:spPr>
          <a:xfrm>
            <a:off x="671400" y="2426400"/>
            <a:ext cx="2710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POST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4"/>
          <p:cNvSpPr/>
          <p:nvPr/>
        </p:nvSpPr>
        <p:spPr>
          <a:xfrm>
            <a:off x="1014480" y="2397960"/>
            <a:ext cx="860400" cy="20664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5"/>
          <p:cNvSpPr/>
          <p:nvPr/>
        </p:nvSpPr>
        <p:spPr>
          <a:xfrm>
            <a:off x="1014480" y="2397960"/>
            <a:ext cx="86040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34200" bIns="3420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/auth/login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671400" y="2633760"/>
            <a:ext cx="3514320" cy="1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Autenticação de usuários e emissão de tokens.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7"/>
          <p:cNvSpPr/>
          <p:nvPr/>
        </p:nvSpPr>
        <p:spPr>
          <a:xfrm>
            <a:off x="671400" y="2989080"/>
            <a:ext cx="5425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GET/POST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8"/>
          <p:cNvSpPr/>
          <p:nvPr/>
        </p:nvSpPr>
        <p:spPr>
          <a:xfrm>
            <a:off x="1285920" y="2960640"/>
            <a:ext cx="928440" cy="20664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9"/>
          <p:cNvSpPr/>
          <p:nvPr/>
        </p:nvSpPr>
        <p:spPr>
          <a:xfrm>
            <a:off x="1285920" y="2960640"/>
            <a:ext cx="9284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34200" bIns="3420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/ocorrencias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0"/>
          <p:cNvSpPr/>
          <p:nvPr/>
        </p:nvSpPr>
        <p:spPr>
          <a:xfrm>
            <a:off x="671400" y="3196080"/>
            <a:ext cx="3514320" cy="1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Listagem e registro de novos desastres.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1"/>
          <p:cNvSpPr/>
          <p:nvPr/>
        </p:nvSpPr>
        <p:spPr>
          <a:xfrm>
            <a:off x="671400" y="3551760"/>
            <a:ext cx="6105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PUT/PATCH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2"/>
          <p:cNvSpPr/>
          <p:nvPr/>
        </p:nvSpPr>
        <p:spPr>
          <a:xfrm>
            <a:off x="1353600" y="3522960"/>
            <a:ext cx="1267560" cy="20664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3"/>
          <p:cNvSpPr/>
          <p:nvPr/>
        </p:nvSpPr>
        <p:spPr>
          <a:xfrm>
            <a:off x="1353600" y="3522960"/>
            <a:ext cx="126756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34200" bIns="3420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/ocorrencias/{id}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4"/>
          <p:cNvSpPr/>
          <p:nvPr/>
        </p:nvSpPr>
        <p:spPr>
          <a:xfrm>
            <a:off x="671400" y="3758760"/>
            <a:ext cx="3514320" cy="1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Atualização de status por agentes da Defesa Civil.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5"/>
          <p:cNvSpPr/>
          <p:nvPr/>
        </p:nvSpPr>
        <p:spPr>
          <a:xfrm>
            <a:off x="671400" y="4114080"/>
            <a:ext cx="2034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GET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6"/>
          <p:cNvSpPr/>
          <p:nvPr/>
        </p:nvSpPr>
        <p:spPr>
          <a:xfrm>
            <a:off x="946440" y="4085640"/>
            <a:ext cx="1199880" cy="20664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7"/>
          <p:cNvSpPr/>
          <p:nvPr/>
        </p:nvSpPr>
        <p:spPr>
          <a:xfrm>
            <a:off x="946440" y="4085640"/>
            <a:ext cx="11998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34200" bIns="3420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/usuarios/perfil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8"/>
          <p:cNvSpPr/>
          <p:nvPr/>
        </p:nvSpPr>
        <p:spPr>
          <a:xfrm>
            <a:off x="671400" y="4321440"/>
            <a:ext cx="3514320" cy="1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Recuperação de dados do usuário logado.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9"/>
          <p:cNvSpPr/>
          <p:nvPr/>
        </p:nvSpPr>
        <p:spPr>
          <a:xfrm>
            <a:off x="4957920" y="1942560"/>
            <a:ext cx="35143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MECANISMOS DE COMUNICAÇÃO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Image 1" descr="preencoded.png"/>
          <p:cNvPicPr/>
          <p:nvPr/>
        </p:nvPicPr>
        <p:blipFill>
          <a:blip r:embed="rId2"/>
          <a:stretch/>
        </p:blipFill>
        <p:spPr>
          <a:xfrm>
            <a:off x="4957920" y="2347920"/>
            <a:ext cx="171000" cy="66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 20"/>
          <p:cNvSpPr/>
          <p:nvPr/>
        </p:nvSpPr>
        <p:spPr>
          <a:xfrm>
            <a:off x="5236200" y="2347920"/>
            <a:ext cx="323568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Autenticação JWT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1"/>
          <p:cNvSpPr/>
          <p:nvPr/>
        </p:nvSpPr>
        <p:spPr>
          <a:xfrm>
            <a:off x="5236200" y="2631960"/>
            <a:ext cx="323568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Segurança baseada em tokens para todas as requisições privadas, garantindo integridade.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Image 2" descr="preencoded.png"/>
          <p:cNvPicPr/>
          <p:nvPr/>
        </p:nvPicPr>
        <p:blipFill>
          <a:blip r:embed="rId3"/>
          <a:stretch/>
        </p:blipFill>
        <p:spPr>
          <a:xfrm>
            <a:off x="4957920" y="3192840"/>
            <a:ext cx="171000" cy="66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 22"/>
          <p:cNvSpPr/>
          <p:nvPr/>
        </p:nvSpPr>
        <p:spPr>
          <a:xfrm>
            <a:off x="5236200" y="3192840"/>
            <a:ext cx="323568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Sincronização Inteligente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3"/>
          <p:cNvSpPr/>
          <p:nvPr/>
        </p:nvSpPr>
        <p:spPr>
          <a:xfrm>
            <a:off x="5236200" y="3476520"/>
            <a:ext cx="323568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Mecanismo de retry automático para dados capturados em áreas sem conectividade.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Image 3" descr="preencoded.png"/>
          <p:cNvPicPr/>
          <p:nvPr/>
        </p:nvPicPr>
        <p:blipFill>
          <a:blip r:embed="rId4"/>
          <a:stretch/>
        </p:blipFill>
        <p:spPr>
          <a:xfrm>
            <a:off x="4957920" y="4037400"/>
            <a:ext cx="171000" cy="66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24"/>
          <p:cNvSpPr/>
          <p:nvPr/>
        </p:nvSpPr>
        <p:spPr>
          <a:xfrm>
            <a:off x="5236200" y="4037400"/>
            <a:ext cx="323568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Headers de Segurança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5"/>
          <p:cNvSpPr/>
          <p:nvPr/>
        </p:nvSpPr>
        <p:spPr>
          <a:xfrm>
            <a:off x="5236200" y="4321440"/>
            <a:ext cx="323568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Uso de interceptors no Flutter para injeção automática de credenciais.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Shape 0"/>
          <p:cNvSpPr/>
          <p:nvPr/>
        </p:nvSpPr>
        <p:spPr>
          <a:xfrm>
            <a:off x="0" y="0"/>
            <a:ext cx="9143640" cy="1142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428760" y="285840"/>
            <a:ext cx="391284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SEGURANÇA &amp; PRIVACIDADE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"/>
          <p:cNvSpPr/>
          <p:nvPr/>
        </p:nvSpPr>
        <p:spPr>
          <a:xfrm>
            <a:off x="428760" y="1414440"/>
            <a:ext cx="4071600" cy="1628280"/>
          </a:xfrm>
          <a:prstGeom prst="rect">
            <a:avLst/>
          </a:prstGeom>
          <a:solidFill>
            <a:srgbClr val="f8f9fa"/>
          </a:solidFill>
          <a:ln w="27432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1" descr="preencoded.png"/>
          <p:cNvPicPr/>
          <p:nvPr/>
        </p:nvPicPr>
        <p:blipFill>
          <a:blip r:embed="rId2"/>
          <a:stretch/>
        </p:blipFill>
        <p:spPr>
          <a:xfrm>
            <a:off x="642960" y="1557360"/>
            <a:ext cx="321120" cy="25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3"/>
          <p:cNvSpPr/>
          <p:nvPr/>
        </p:nvSpPr>
        <p:spPr>
          <a:xfrm>
            <a:off x="642960" y="2030760"/>
            <a:ext cx="36428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000000"/>
                </a:solidFill>
                <a:effectLst/>
                <a:uFillTx/>
                <a:latin typeface="Roboto Mono"/>
                <a:ea typeface="Roboto Mono"/>
              </a:rPr>
              <a:t>CONFORMIDADE LGPD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4"/>
          <p:cNvSpPr/>
          <p:nvPr/>
        </p:nvSpPr>
        <p:spPr>
          <a:xfrm>
            <a:off x="642960" y="2323440"/>
            <a:ext cx="364284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Tratamento de dados pessoais seguindo rigorosamente a Lei Geral de Proteção de Dados, com consentimento explícito.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5"/>
          <p:cNvSpPr/>
          <p:nvPr/>
        </p:nvSpPr>
        <p:spPr>
          <a:xfrm>
            <a:off x="4643280" y="1414440"/>
            <a:ext cx="4071600" cy="1628280"/>
          </a:xfrm>
          <a:prstGeom prst="rect">
            <a:avLst/>
          </a:prstGeom>
          <a:solidFill>
            <a:srgbClr val="f8f9fa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Image 2" descr="preencoded.png"/>
          <p:cNvPicPr/>
          <p:nvPr/>
        </p:nvPicPr>
        <p:blipFill>
          <a:blip r:embed="rId3"/>
          <a:stretch/>
        </p:blipFill>
        <p:spPr>
          <a:xfrm>
            <a:off x="4857840" y="1557360"/>
            <a:ext cx="224640" cy="25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Text 6"/>
          <p:cNvSpPr/>
          <p:nvPr/>
        </p:nvSpPr>
        <p:spPr>
          <a:xfrm>
            <a:off x="4857840" y="2030760"/>
            <a:ext cx="36428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000000"/>
                </a:solidFill>
                <a:effectLst/>
                <a:uFillTx/>
                <a:latin typeface="Roboto Mono"/>
                <a:ea typeface="Roboto Mono"/>
              </a:rPr>
              <a:t>CRIPTOGRAFIA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7"/>
          <p:cNvSpPr/>
          <p:nvPr/>
        </p:nvSpPr>
        <p:spPr>
          <a:xfrm>
            <a:off x="4857840" y="2323440"/>
            <a:ext cx="36428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Proteção de dados sensíveis em trânsito (TLS/SSL) e em repouso, garantindo que informações críticas não sejam expostas.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8"/>
          <p:cNvSpPr/>
          <p:nvPr/>
        </p:nvSpPr>
        <p:spPr>
          <a:xfrm>
            <a:off x="428760" y="3129120"/>
            <a:ext cx="4071600" cy="1628280"/>
          </a:xfrm>
          <a:prstGeom prst="rect">
            <a:avLst/>
          </a:prstGeom>
          <a:solidFill>
            <a:srgbClr val="f8f9fa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Image 3" descr="preencoded.png"/>
          <p:cNvPicPr/>
          <p:nvPr/>
        </p:nvPicPr>
        <p:blipFill>
          <a:blip r:embed="rId4"/>
          <a:stretch/>
        </p:blipFill>
        <p:spPr>
          <a:xfrm>
            <a:off x="642960" y="327168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Text 9"/>
          <p:cNvSpPr/>
          <p:nvPr/>
        </p:nvSpPr>
        <p:spPr>
          <a:xfrm>
            <a:off x="642960" y="3745080"/>
            <a:ext cx="36428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000000"/>
                </a:solidFill>
                <a:effectLst/>
                <a:uFillTx/>
                <a:latin typeface="Roboto Mono"/>
                <a:ea typeface="Roboto Mono"/>
              </a:rPr>
              <a:t>GESTÃO DE PERMISSÕES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0"/>
          <p:cNvSpPr/>
          <p:nvPr/>
        </p:nvSpPr>
        <p:spPr>
          <a:xfrm>
            <a:off x="642960" y="4038120"/>
            <a:ext cx="364284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Controle granular de acesso ao GPS e Câmera via Permission Handler, solicitando apenas o necessário para a operação.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1"/>
          <p:cNvSpPr/>
          <p:nvPr/>
        </p:nvSpPr>
        <p:spPr>
          <a:xfrm>
            <a:off x="4643280" y="3129120"/>
            <a:ext cx="4071600" cy="1628280"/>
          </a:xfrm>
          <a:prstGeom prst="rect">
            <a:avLst/>
          </a:prstGeom>
          <a:solidFill>
            <a:srgbClr val="f8f9fa"/>
          </a:solidFill>
          <a:ln w="27432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2" name="Image 4" descr="preencoded.png"/>
          <p:cNvPicPr/>
          <p:nvPr/>
        </p:nvPicPr>
        <p:blipFill>
          <a:blip r:embed="rId5"/>
          <a:stretch/>
        </p:blipFill>
        <p:spPr>
          <a:xfrm>
            <a:off x="4857840" y="3271680"/>
            <a:ext cx="192600" cy="25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 12"/>
          <p:cNvSpPr/>
          <p:nvPr/>
        </p:nvSpPr>
        <p:spPr>
          <a:xfrm>
            <a:off x="4857840" y="3745080"/>
            <a:ext cx="36428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000000"/>
                </a:solidFill>
                <a:effectLst/>
                <a:uFillTx/>
                <a:latin typeface="Roboto Mono"/>
                <a:ea typeface="Roboto Mono"/>
              </a:rPr>
              <a:t>TRANSPARÊNCIA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4857840" y="4038120"/>
            <a:ext cx="364284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Política de privacidade clara e acessível, detalhando como os dados de ocorrências são utilizados pela Defesa Civil.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Shape 0"/>
          <p:cNvSpPr/>
          <p:nvPr/>
        </p:nvSpPr>
        <p:spPr>
          <a:xfrm>
            <a:off x="0" y="0"/>
            <a:ext cx="9143640" cy="1142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428760" y="285840"/>
            <a:ext cx="82864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DISPONIBILIDADE &amp; DISTRIBUIÇÃO 📱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"/>
          <p:cNvSpPr/>
          <p:nvPr/>
        </p:nvSpPr>
        <p:spPr>
          <a:xfrm>
            <a:off x="428760" y="1628640"/>
            <a:ext cx="2619000" cy="2849040"/>
          </a:xfrm>
          <a:prstGeom prst="rect">
            <a:avLst/>
          </a:prstGeom>
          <a:solidFill>
            <a:srgbClr val="f8f9fa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9" name="Image 1" descr="preencoded.png"/>
          <p:cNvPicPr/>
          <p:nvPr/>
        </p:nvPicPr>
        <p:blipFill>
          <a:blip r:embed="rId2"/>
          <a:stretch/>
        </p:blipFill>
        <p:spPr>
          <a:xfrm>
            <a:off x="1504800" y="1914480"/>
            <a:ext cx="428400" cy="42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3"/>
          <p:cNvSpPr/>
          <p:nvPr/>
        </p:nvSpPr>
        <p:spPr>
          <a:xfrm>
            <a:off x="642960" y="2687760"/>
            <a:ext cx="21524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GOOGLE PLAY STORE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642960" y="3038040"/>
            <a:ext cx="2152440" cy="61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5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Atualmente disponível em ambiente de </a:t>
            </a: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Teste Interno</a:t>
            </a:r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 para validação de funcionalidades.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5"/>
          <p:cNvSpPr/>
          <p:nvPr/>
        </p:nvSpPr>
        <p:spPr>
          <a:xfrm>
            <a:off x="1131840" y="3890520"/>
            <a:ext cx="1174680" cy="292680"/>
          </a:xfrm>
          <a:prstGeom prst="rect">
            <a:avLst/>
          </a:prstGeom>
          <a:solidFill>
            <a:srgbClr val="0077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6"/>
          <p:cNvSpPr/>
          <p:nvPr/>
        </p:nvSpPr>
        <p:spPr>
          <a:xfrm>
            <a:off x="1131840" y="3890520"/>
            <a:ext cx="117468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rIns="169920" tIns="70200" bIns="7020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STATUS: ✅ OK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7"/>
          <p:cNvSpPr/>
          <p:nvPr/>
        </p:nvSpPr>
        <p:spPr>
          <a:xfrm>
            <a:off x="3224160" y="1628640"/>
            <a:ext cx="2638080" cy="2849040"/>
          </a:xfrm>
          <a:prstGeom prst="rect">
            <a:avLst/>
          </a:prstGeom>
          <a:solidFill>
            <a:srgbClr val="f8f9fa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5" name="Image 2" descr="preencoded.png"/>
          <p:cNvPicPr/>
          <p:nvPr/>
        </p:nvPicPr>
        <p:blipFill>
          <a:blip r:embed="rId3"/>
          <a:stretch/>
        </p:blipFill>
        <p:spPr>
          <a:xfrm>
            <a:off x="4356000" y="1914480"/>
            <a:ext cx="374760" cy="42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Text 8"/>
          <p:cNvSpPr/>
          <p:nvPr/>
        </p:nvSpPr>
        <p:spPr>
          <a:xfrm>
            <a:off x="3457440" y="2687760"/>
            <a:ext cx="217152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VERSÃO &amp; PLATAFORMA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9"/>
          <p:cNvSpPr/>
          <p:nvPr/>
        </p:nvSpPr>
        <p:spPr>
          <a:xfrm>
            <a:off x="3457440" y="3038040"/>
            <a:ext cx="2171520" cy="61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Compilação atual: </a:t>
            </a: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1.0.0+5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Foco inicial: </a:t>
            </a: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Android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Tamanho do Repo: ~106 MB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0"/>
          <p:cNvSpPr/>
          <p:nvPr/>
        </p:nvSpPr>
        <p:spPr>
          <a:xfrm>
            <a:off x="3959280" y="3890520"/>
            <a:ext cx="1167480" cy="292680"/>
          </a:xfrm>
          <a:prstGeom prst="rect">
            <a:avLst/>
          </a:prstGeom>
          <a:solidFill>
            <a:srgbClr val="0077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1"/>
          <p:cNvSpPr/>
          <p:nvPr/>
        </p:nvSpPr>
        <p:spPr>
          <a:xfrm>
            <a:off x="3959280" y="3890520"/>
            <a:ext cx="116748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rIns="169920" tIns="70200" bIns="7020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BUILD: STABLE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2"/>
          <p:cNvSpPr/>
          <p:nvPr/>
        </p:nvSpPr>
        <p:spPr>
          <a:xfrm>
            <a:off x="6058080" y="1628640"/>
            <a:ext cx="2657160" cy="2849040"/>
          </a:xfrm>
          <a:prstGeom prst="rect">
            <a:avLst/>
          </a:prstGeom>
          <a:solidFill>
            <a:srgbClr val="f8f9fa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3" descr="preencoded.png"/>
          <p:cNvPicPr/>
          <p:nvPr/>
        </p:nvPicPr>
        <p:blipFill>
          <a:blip r:embed="rId4"/>
          <a:stretch/>
        </p:blipFill>
        <p:spPr>
          <a:xfrm>
            <a:off x="7197480" y="1914480"/>
            <a:ext cx="415800" cy="42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13"/>
          <p:cNvSpPr/>
          <p:nvPr/>
        </p:nvSpPr>
        <p:spPr>
          <a:xfrm>
            <a:off x="6310440" y="2687760"/>
            <a:ext cx="219024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333333"/>
                </a:solidFill>
                <a:effectLst/>
                <a:uFillTx/>
                <a:latin typeface="Roboto Mono"/>
                <a:ea typeface="Roboto Mono"/>
              </a:rPr>
              <a:t>CÓDIGO ABERTO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4"/>
          <p:cNvSpPr/>
          <p:nvPr/>
        </p:nvSpPr>
        <p:spPr>
          <a:xfrm>
            <a:off x="6310440" y="3038040"/>
            <a:ext cx="2190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5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Repositório oficial para colaboração e transparência técnica:</a:t>
            </a:r>
            <a:endParaRPr lang="pt-B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5"/>
          <p:cNvSpPr/>
          <p:nvPr/>
        </p:nvSpPr>
        <p:spPr>
          <a:xfrm>
            <a:off x="6466320" y="3578040"/>
            <a:ext cx="187812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github.com/moraisReinaldo/Defesa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7"/>
          <p:cNvSpPr/>
          <p:nvPr/>
        </p:nvSpPr>
        <p:spPr>
          <a:xfrm>
            <a:off x="6889680" y="3912120"/>
            <a:ext cx="1031760" cy="292680"/>
          </a:xfrm>
          <a:prstGeom prst="rect">
            <a:avLst/>
          </a:prstGeom>
          <a:solidFill>
            <a:srgbClr val="0077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8"/>
          <p:cNvSpPr/>
          <p:nvPr/>
        </p:nvSpPr>
        <p:spPr>
          <a:xfrm>
            <a:off x="6889680" y="3912120"/>
            <a:ext cx="103176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920" rIns="169920" tIns="70200" bIns="7020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OPEN SOURCE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Shape 0"/>
          <p:cNvSpPr/>
          <p:nvPr/>
        </p:nvSpPr>
        <p:spPr>
          <a:xfrm>
            <a:off x="0" y="0"/>
            <a:ext cx="9143640" cy="1142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428760" y="285840"/>
            <a:ext cx="357264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DEPENDÊNCIAS TÉCNICAS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"/>
          <p:cNvSpPr/>
          <p:nvPr/>
        </p:nvSpPr>
        <p:spPr>
          <a:xfrm>
            <a:off x="428760" y="1414440"/>
            <a:ext cx="4057200" cy="1771200"/>
          </a:xfrm>
          <a:prstGeom prst="rect">
            <a:avLst/>
          </a:prstGeom>
          <a:solidFill>
            <a:srgbClr val="0077b6">
              <a:alpha val="5000"/>
            </a:srgbClr>
          </a:solidFill>
          <a:ln w="27432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"/>
          <p:cNvSpPr/>
          <p:nvPr/>
        </p:nvSpPr>
        <p:spPr>
          <a:xfrm>
            <a:off x="600120" y="1687680"/>
            <a:ext cx="37144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6804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CORE &amp; CLOUD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4"/>
          <p:cNvSpPr/>
          <p:nvPr/>
        </p:nvSpPr>
        <p:spPr>
          <a:xfrm>
            <a:off x="600120" y="2080800"/>
            <a:ext cx="1081800" cy="263880"/>
          </a:xfrm>
          <a:prstGeom prst="rect">
            <a:avLst/>
          </a:prstGeom>
          <a:solidFill>
            <a:srgbClr val="333333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5"/>
          <p:cNvSpPr/>
          <p:nvPr/>
        </p:nvSpPr>
        <p:spPr>
          <a:xfrm>
            <a:off x="600120" y="2080800"/>
            <a:ext cx="108180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firebase_core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6"/>
          <p:cNvSpPr/>
          <p:nvPr/>
        </p:nvSpPr>
        <p:spPr>
          <a:xfrm>
            <a:off x="1725120" y="2080800"/>
            <a:ext cx="1421280" cy="263880"/>
          </a:xfrm>
          <a:prstGeom prst="rect">
            <a:avLst/>
          </a:prstGeom>
          <a:solidFill>
            <a:srgbClr val="333333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1725120" y="2080800"/>
            <a:ext cx="142128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firebase_messaging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8"/>
          <p:cNvSpPr/>
          <p:nvPr/>
        </p:nvSpPr>
        <p:spPr>
          <a:xfrm>
            <a:off x="3189600" y="2080800"/>
            <a:ext cx="471240" cy="263880"/>
          </a:xfrm>
          <a:prstGeom prst="rect">
            <a:avLst/>
          </a:prstGeom>
          <a:solidFill>
            <a:srgbClr val="333333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9"/>
          <p:cNvSpPr/>
          <p:nvPr/>
        </p:nvSpPr>
        <p:spPr>
          <a:xfrm>
            <a:off x="3189600" y="2080800"/>
            <a:ext cx="47124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http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0"/>
          <p:cNvSpPr/>
          <p:nvPr/>
        </p:nvSpPr>
        <p:spPr>
          <a:xfrm>
            <a:off x="600120" y="2430720"/>
            <a:ext cx="371448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Infraestrutura base para comunicação e notificações em nuvem.</a:t>
            </a:r>
            <a:endParaRPr lang="pt-BR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1"/>
          <p:cNvSpPr/>
          <p:nvPr/>
        </p:nvSpPr>
        <p:spPr>
          <a:xfrm>
            <a:off x="4657680" y="1414440"/>
            <a:ext cx="4057200" cy="1771200"/>
          </a:xfrm>
          <a:prstGeom prst="rect">
            <a:avLst/>
          </a:prstGeom>
          <a:solidFill>
            <a:srgbClr val="f8f9fa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2"/>
          <p:cNvSpPr/>
          <p:nvPr/>
        </p:nvSpPr>
        <p:spPr>
          <a:xfrm>
            <a:off x="4829040" y="1687680"/>
            <a:ext cx="37144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6804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UI &amp; MAPS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3"/>
          <p:cNvSpPr/>
          <p:nvPr/>
        </p:nvSpPr>
        <p:spPr>
          <a:xfrm>
            <a:off x="4829040" y="2080800"/>
            <a:ext cx="946080" cy="263880"/>
          </a:xfrm>
          <a:prstGeom prst="rect">
            <a:avLst/>
          </a:prstGeom>
          <a:solidFill>
            <a:srgbClr val="333333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4"/>
          <p:cNvSpPr/>
          <p:nvPr/>
        </p:nvSpPr>
        <p:spPr>
          <a:xfrm>
            <a:off x="4829040" y="2080800"/>
            <a:ext cx="94608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flutter_map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5"/>
          <p:cNvSpPr/>
          <p:nvPr/>
        </p:nvSpPr>
        <p:spPr>
          <a:xfrm>
            <a:off x="5818680" y="2080800"/>
            <a:ext cx="878400" cy="263880"/>
          </a:xfrm>
          <a:prstGeom prst="rect">
            <a:avLst/>
          </a:prstGeom>
          <a:solidFill>
            <a:srgbClr val="333333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6"/>
          <p:cNvSpPr/>
          <p:nvPr/>
        </p:nvSpPr>
        <p:spPr>
          <a:xfrm>
            <a:off x="5818680" y="2080800"/>
            <a:ext cx="87840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geolocator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7"/>
          <p:cNvSpPr/>
          <p:nvPr/>
        </p:nvSpPr>
        <p:spPr>
          <a:xfrm>
            <a:off x="6740280" y="2080800"/>
            <a:ext cx="810360" cy="263880"/>
          </a:xfrm>
          <a:prstGeom prst="rect">
            <a:avLst/>
          </a:prstGeom>
          <a:solidFill>
            <a:srgbClr val="333333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8"/>
          <p:cNvSpPr/>
          <p:nvPr/>
        </p:nvSpPr>
        <p:spPr>
          <a:xfrm>
            <a:off x="6740280" y="2080800"/>
            <a:ext cx="81036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geocoding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9"/>
          <p:cNvSpPr/>
          <p:nvPr/>
        </p:nvSpPr>
        <p:spPr>
          <a:xfrm>
            <a:off x="4829040" y="2430720"/>
            <a:ext cx="371448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Componentes visuais e serviços de localização geoespacial.</a:t>
            </a:r>
            <a:endParaRPr lang="pt-BR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0"/>
          <p:cNvSpPr/>
          <p:nvPr/>
        </p:nvSpPr>
        <p:spPr>
          <a:xfrm>
            <a:off x="428760" y="3300480"/>
            <a:ext cx="4057200" cy="1771200"/>
          </a:xfrm>
          <a:prstGeom prst="rect">
            <a:avLst/>
          </a:prstGeom>
          <a:solidFill>
            <a:srgbClr val="f8f9fa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1"/>
          <p:cNvSpPr/>
          <p:nvPr/>
        </p:nvSpPr>
        <p:spPr>
          <a:xfrm>
            <a:off x="600120" y="3573720"/>
            <a:ext cx="37144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6804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MEDIA &amp; PERMISSIONS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22"/>
          <p:cNvSpPr/>
          <p:nvPr/>
        </p:nvSpPr>
        <p:spPr>
          <a:xfrm>
            <a:off x="600120" y="3966480"/>
            <a:ext cx="1014120" cy="263880"/>
          </a:xfrm>
          <a:prstGeom prst="rect">
            <a:avLst/>
          </a:prstGeom>
          <a:solidFill>
            <a:srgbClr val="333333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3"/>
          <p:cNvSpPr/>
          <p:nvPr/>
        </p:nvSpPr>
        <p:spPr>
          <a:xfrm>
            <a:off x="600120" y="3966480"/>
            <a:ext cx="101412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image_picker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24"/>
          <p:cNvSpPr/>
          <p:nvPr/>
        </p:nvSpPr>
        <p:spPr>
          <a:xfrm>
            <a:off x="1657440" y="3966480"/>
            <a:ext cx="1421280" cy="263880"/>
          </a:xfrm>
          <a:prstGeom prst="rect">
            <a:avLst/>
          </a:prstGeom>
          <a:solidFill>
            <a:srgbClr val="333333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5"/>
          <p:cNvSpPr/>
          <p:nvPr/>
        </p:nvSpPr>
        <p:spPr>
          <a:xfrm>
            <a:off x="1657440" y="3966480"/>
            <a:ext cx="142128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permission_handler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6"/>
          <p:cNvSpPr/>
          <p:nvPr/>
        </p:nvSpPr>
        <p:spPr>
          <a:xfrm>
            <a:off x="600120" y="4316760"/>
            <a:ext cx="371448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Captura de evidências visuais e gestão de acessos ao hardware.</a:t>
            </a:r>
            <a:endParaRPr lang="pt-BR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27"/>
          <p:cNvSpPr/>
          <p:nvPr/>
        </p:nvSpPr>
        <p:spPr>
          <a:xfrm>
            <a:off x="4657680" y="3300480"/>
            <a:ext cx="4057200" cy="1771200"/>
          </a:xfrm>
          <a:prstGeom prst="rect">
            <a:avLst/>
          </a:prstGeom>
          <a:solidFill>
            <a:srgbClr val="0077b6">
              <a:alpha val="5000"/>
            </a:srgbClr>
          </a:solidFill>
          <a:ln w="27432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8"/>
          <p:cNvSpPr/>
          <p:nvPr/>
        </p:nvSpPr>
        <p:spPr>
          <a:xfrm>
            <a:off x="4829040" y="3573720"/>
            <a:ext cx="37144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6804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0077b6"/>
                </a:solidFill>
                <a:effectLst/>
                <a:uFillTx/>
                <a:latin typeface="Roboto Mono"/>
                <a:ea typeface="Roboto Mono"/>
              </a:rPr>
              <a:t>STATE &amp; STORAGE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29"/>
          <p:cNvSpPr/>
          <p:nvPr/>
        </p:nvSpPr>
        <p:spPr>
          <a:xfrm>
            <a:off x="4829040" y="3966480"/>
            <a:ext cx="742680" cy="263880"/>
          </a:xfrm>
          <a:prstGeom prst="rect">
            <a:avLst/>
          </a:prstGeom>
          <a:solidFill>
            <a:srgbClr val="333333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30"/>
          <p:cNvSpPr/>
          <p:nvPr/>
        </p:nvSpPr>
        <p:spPr>
          <a:xfrm>
            <a:off x="4829040" y="3966480"/>
            <a:ext cx="74268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provider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31"/>
          <p:cNvSpPr/>
          <p:nvPr/>
        </p:nvSpPr>
        <p:spPr>
          <a:xfrm>
            <a:off x="5614920" y="3966480"/>
            <a:ext cx="1421280" cy="263880"/>
          </a:xfrm>
          <a:prstGeom prst="rect">
            <a:avLst/>
          </a:prstGeom>
          <a:solidFill>
            <a:srgbClr val="333333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2"/>
          <p:cNvSpPr/>
          <p:nvPr/>
        </p:nvSpPr>
        <p:spPr>
          <a:xfrm>
            <a:off x="5614920" y="3966480"/>
            <a:ext cx="142128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shared_preferences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33"/>
          <p:cNvSpPr/>
          <p:nvPr/>
        </p:nvSpPr>
        <p:spPr>
          <a:xfrm>
            <a:off x="4829040" y="4316760"/>
            <a:ext cx="371448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Gerenciamento de estado reativo e persistência de dados local.</a:t>
            </a:r>
            <a:endParaRPr lang="pt-BR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Shape 0"/>
          <p:cNvSpPr/>
          <p:nvPr/>
        </p:nvSpPr>
        <p:spPr>
          <a:xfrm>
            <a:off x="0" y="0"/>
            <a:ext cx="9143640" cy="1142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"/>
          <p:cNvSpPr/>
          <p:nvPr/>
        </p:nvSpPr>
        <p:spPr>
          <a:xfrm>
            <a:off x="428760" y="285840"/>
            <a:ext cx="82864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ffffff"/>
                </a:solidFill>
                <a:effectLst/>
                <a:uFillTx/>
                <a:latin typeface="Roboto Mono"/>
                <a:ea typeface="Roboto Mono"/>
              </a:rPr>
              <a:t>PRÓXIMAS ETAPAS &amp; ROADMAP 🗺️</a:t>
            </a:r>
            <a:endParaRPr lang="pt-B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"/>
          <p:cNvSpPr/>
          <p:nvPr/>
        </p:nvSpPr>
        <p:spPr>
          <a:xfrm>
            <a:off x="428760" y="1628640"/>
            <a:ext cx="1964160" cy="2771280"/>
          </a:xfrm>
          <a:prstGeom prst="rect">
            <a:avLst/>
          </a:prstGeom>
          <a:solidFill>
            <a:srgbClr val="0077b6">
              <a:alpha val="5000"/>
            </a:srgbClr>
          </a:solidFill>
          <a:ln w="27432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 1" descr="preencoded.png"/>
          <p:cNvPicPr/>
          <p:nvPr/>
        </p:nvPicPr>
        <p:blipFill>
          <a:blip r:embed="rId2"/>
          <a:stretch/>
        </p:blipFill>
        <p:spPr>
          <a:xfrm>
            <a:off x="1303560" y="1843200"/>
            <a:ext cx="21384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Shape 3"/>
          <p:cNvSpPr/>
          <p:nvPr/>
        </p:nvSpPr>
        <p:spPr>
          <a:xfrm>
            <a:off x="571680" y="2378520"/>
            <a:ext cx="1678320" cy="2408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4"/>
          <p:cNvSpPr/>
          <p:nvPr/>
        </p:nvSpPr>
        <p:spPr>
          <a:xfrm>
            <a:off x="571680" y="2378520"/>
            <a:ext cx="16783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42480" bIns="4248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000000"/>
                </a:solidFill>
                <a:effectLst/>
                <a:uFillTx/>
                <a:latin typeface="Roboto Mono"/>
                <a:ea typeface="Roboto Mono"/>
              </a:rPr>
              <a:t>CURTO PRAZO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5"/>
          <p:cNvSpPr/>
          <p:nvPr/>
        </p:nvSpPr>
        <p:spPr>
          <a:xfrm>
            <a:off x="571680" y="2726640"/>
            <a:ext cx="1678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Finalização e polimento da integração completa com o Backend Spring Boot e validação de segurança.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6"/>
          <p:cNvSpPr/>
          <p:nvPr/>
        </p:nvSpPr>
        <p:spPr>
          <a:xfrm>
            <a:off x="2536200" y="1628640"/>
            <a:ext cx="1964160" cy="2771280"/>
          </a:xfrm>
          <a:prstGeom prst="rect">
            <a:avLst/>
          </a:prstGeom>
          <a:solidFill>
            <a:srgbClr val="f8f9fa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1" name="Image 2" descr="preencoded.png"/>
          <p:cNvPicPr/>
          <p:nvPr/>
        </p:nvPicPr>
        <p:blipFill>
          <a:blip r:embed="rId3"/>
          <a:stretch/>
        </p:blipFill>
        <p:spPr>
          <a:xfrm>
            <a:off x="3339720" y="1843200"/>
            <a:ext cx="35676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Shape 7"/>
          <p:cNvSpPr/>
          <p:nvPr/>
        </p:nvSpPr>
        <p:spPr>
          <a:xfrm>
            <a:off x="2678760" y="2378520"/>
            <a:ext cx="1678320" cy="2408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8"/>
          <p:cNvSpPr/>
          <p:nvPr/>
        </p:nvSpPr>
        <p:spPr>
          <a:xfrm>
            <a:off x="2678760" y="2378520"/>
            <a:ext cx="16783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42480" bIns="4248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000000"/>
                </a:solidFill>
                <a:effectLst/>
                <a:uFillTx/>
                <a:latin typeface="Roboto Mono"/>
                <a:ea typeface="Roboto Mono"/>
              </a:rPr>
              <a:t>MÉDIO PRAZO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9"/>
          <p:cNvSpPr/>
          <p:nvPr/>
        </p:nvSpPr>
        <p:spPr>
          <a:xfrm>
            <a:off x="2678760" y="2726640"/>
            <a:ext cx="1678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Implementação de alertas preventivos baseados em APIs de previsão do tempo e monitoramento hidrológico.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0"/>
          <p:cNvSpPr/>
          <p:nvPr/>
        </p:nvSpPr>
        <p:spPr>
          <a:xfrm>
            <a:off x="4643280" y="1628640"/>
            <a:ext cx="1964160" cy="2771280"/>
          </a:xfrm>
          <a:prstGeom prst="rect">
            <a:avLst/>
          </a:prstGeom>
          <a:solidFill>
            <a:srgbClr val="0077b6">
              <a:alpha val="5000"/>
            </a:srgbClr>
          </a:solidFill>
          <a:ln w="27432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6" name="Image 3" descr="preencoded.png"/>
          <p:cNvPicPr/>
          <p:nvPr/>
        </p:nvPicPr>
        <p:blipFill>
          <a:blip r:embed="rId4"/>
          <a:stretch/>
        </p:blipFill>
        <p:spPr>
          <a:xfrm>
            <a:off x="5482800" y="1843200"/>
            <a:ext cx="28548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Shape 11"/>
          <p:cNvSpPr/>
          <p:nvPr/>
        </p:nvSpPr>
        <p:spPr>
          <a:xfrm>
            <a:off x="4786200" y="2378520"/>
            <a:ext cx="1678320" cy="2408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2"/>
          <p:cNvSpPr/>
          <p:nvPr/>
        </p:nvSpPr>
        <p:spPr>
          <a:xfrm>
            <a:off x="4786200" y="2378520"/>
            <a:ext cx="16783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42480" bIns="4248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000000"/>
                </a:solidFill>
                <a:effectLst/>
                <a:uFillTx/>
                <a:latin typeface="Roboto Mono"/>
                <a:ea typeface="Roboto Mono"/>
              </a:rPr>
              <a:t>LONGO PRAZO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3"/>
          <p:cNvSpPr/>
          <p:nvPr/>
        </p:nvSpPr>
        <p:spPr>
          <a:xfrm>
            <a:off x="4786200" y="2726640"/>
            <a:ext cx="16783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Integração direta com órgãos governamentais e expansão da plataforma para o sistema iOS.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4"/>
          <p:cNvSpPr/>
          <p:nvPr/>
        </p:nvSpPr>
        <p:spPr>
          <a:xfrm>
            <a:off x="6750720" y="1628640"/>
            <a:ext cx="1964160" cy="2771280"/>
          </a:xfrm>
          <a:prstGeom prst="rect">
            <a:avLst/>
          </a:prstGeom>
          <a:solidFill>
            <a:srgbClr val="f8f9fa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1" name="Image 4" descr="preencoded.png"/>
          <p:cNvPicPr/>
          <p:nvPr/>
        </p:nvPicPr>
        <p:blipFill>
          <a:blip r:embed="rId5"/>
          <a:stretch/>
        </p:blipFill>
        <p:spPr>
          <a:xfrm>
            <a:off x="7572240" y="1843200"/>
            <a:ext cx="32112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Shape 15"/>
          <p:cNvSpPr/>
          <p:nvPr/>
        </p:nvSpPr>
        <p:spPr>
          <a:xfrm>
            <a:off x="6893640" y="2378520"/>
            <a:ext cx="1678320" cy="2408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6"/>
          <p:cNvSpPr/>
          <p:nvPr/>
        </p:nvSpPr>
        <p:spPr>
          <a:xfrm>
            <a:off x="6893640" y="2378520"/>
            <a:ext cx="16783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42480" bIns="4248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000000"/>
                </a:solidFill>
                <a:effectLst/>
                <a:uFillTx/>
                <a:latin typeface="Roboto Mono"/>
                <a:ea typeface="Roboto Mono"/>
              </a:rPr>
              <a:t>FOCO CONTÍNUO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7"/>
          <p:cNvSpPr/>
          <p:nvPr/>
        </p:nvSpPr>
        <p:spPr>
          <a:xfrm>
            <a:off x="6893640" y="2726640"/>
            <a:ext cx="1678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Otimização constante de performance, redução do consumo de bateria e melhorias na UX do cidadão.</a:t>
            </a:r>
            <a:endParaRPr lang="pt-B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LibreOffice/25.8.4.2$Windows_X86_64 LibreOffice_project/290daaa01b999472f0c7a3890eb6a550fd74c6df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2026-04-09T23:26:56Z</dcterms:created>
  <dc:creator>PptxGenJS</dc:creator>
  <dc:description/>
  <dc:language>pt-BR</dc:language>
  <cp:lastModifiedBy/>
  <dcterms:modified xsi:type="dcterms:W3CDTF">2026-04-09T21:16:44Z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